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6"/>
  </p:notesMasterIdLst>
  <p:sldIdLst>
    <p:sldId id="11610" r:id="rId2"/>
    <p:sldId id="11605" r:id="rId3"/>
    <p:sldId id="11606" r:id="rId4"/>
    <p:sldId id="11608" r:id="rId5"/>
  </p:sldIdLst>
  <p:sldSz cx="10799763" cy="14400213"/>
  <p:notesSz cx="6858000" cy="9144000"/>
  <p:embeddedFontLst>
    <p:embeddedFont>
      <p:font typeface="等线" panose="02010600030101010101" pitchFamily="2" charset="-122"/>
      <p:regular r:id="rId7"/>
      <p:bold r:id="rId8"/>
    </p:embeddedFont>
    <p:embeddedFont>
      <p:font typeface="思源黑体 CN Bold" panose="020B0800000000000000" pitchFamily="34" charset="-122"/>
      <p:bold r:id="rId9"/>
    </p:embeddedFont>
    <p:embeddedFont>
      <p:font typeface="思源黑体 Medium" panose="020B0600000000000000" pitchFamily="34" charset="-122"/>
      <p:regular r:id="rId10"/>
    </p:embeddedFont>
    <p:embeddedFont>
      <p:font typeface="Inter Display" panose="02000803000000020004" pitchFamily="50" charset="0"/>
      <p:bold r:id="rId11"/>
    </p:embeddedFont>
    <p:embeddedFont>
      <p:font typeface="Inter Display Light" panose="02000403000000020004" pitchFamily="50" charset="0"/>
      <p:regular r:id="rId12"/>
    </p:embeddedFont>
    <p:embeddedFont>
      <p:font typeface="Inter Medium" panose="02000603000000020004" pitchFamily="50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90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9958"/>
    <a:srgbClr val="6B8DAF"/>
    <a:srgbClr val="8980C7"/>
    <a:srgbClr val="A778C8"/>
    <a:srgbClr val="FF7D1C"/>
    <a:srgbClr val="B43B8E"/>
    <a:srgbClr val="9356B6"/>
    <a:srgbClr val="FFFFFF"/>
    <a:srgbClr val="F5F5F7"/>
    <a:srgbClr val="7AAD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12" autoAdjust="0"/>
    <p:restoredTop sz="95907" autoAdjust="0"/>
  </p:normalViewPr>
  <p:slideViewPr>
    <p:cSldViewPr snapToGrid="0" showGuides="1">
      <p:cViewPr varScale="1">
        <p:scale>
          <a:sx n="47" d="100"/>
          <a:sy n="47" d="100"/>
        </p:scale>
        <p:origin x="2640" y="48"/>
      </p:cViewPr>
      <p:guideLst>
        <p:guide orient="horz" pos="4490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0ED3E-F098-4DD6-9FB1-11C8B79ABF4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32785-87B3-436B-BB87-EA8AC807EA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33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356703"/>
            <a:ext cx="9179799" cy="501340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7563446"/>
            <a:ext cx="8099822" cy="3476717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445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5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143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5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3590057"/>
            <a:ext cx="9314796" cy="5990088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9636813"/>
            <a:ext cx="9314796" cy="315004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202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3833390"/>
            <a:ext cx="4589899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3833390"/>
            <a:ext cx="4589899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5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66681"/>
            <a:ext cx="9314796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3530053"/>
            <a:ext cx="4568805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5260078"/>
            <a:ext cx="4568805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3530053"/>
            <a:ext cx="4591306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5260078"/>
            <a:ext cx="4591306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89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00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08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5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073367"/>
            <a:ext cx="5467380" cy="1023348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11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073367"/>
            <a:ext cx="5467380" cy="1023348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36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28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766678"/>
            <a:ext cx="2328699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766678"/>
            <a:ext cx="6851100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954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1699-2273-4A0E-A023-8C666BFEC89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D189-C807-445D-8A72-79DC454C6E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350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766681"/>
            <a:ext cx="9314796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3833390"/>
            <a:ext cx="9314796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3346867"/>
            <a:ext cx="364492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F0CB36-FEA0-B592-C5C6-3D66F054BA5F}"/>
              </a:ext>
            </a:extLst>
          </p:cNvPr>
          <p:cNvSpPr txBox="1"/>
          <p:nvPr userDrawn="1"/>
        </p:nvSpPr>
        <p:spPr>
          <a:xfrm>
            <a:off x="8435386" y="13499373"/>
            <a:ext cx="4728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@Pt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老农</a:t>
            </a:r>
          </a:p>
        </p:txBody>
      </p:sp>
    </p:spTree>
    <p:extLst>
      <p:ext uri="{BB962C8B-B14F-4D97-AF65-F5344CB8AC3E}">
        <p14:creationId xmlns:p14="http://schemas.microsoft.com/office/powerpoint/2010/main" val="191914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35" userDrawn="1">
          <p15:clr>
            <a:srgbClr val="F26B43"/>
          </p15:clr>
        </p15:guide>
        <p15:guide id="2" pos="3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C092F2-A37F-5AC0-413E-2B63BACB0AC5}"/>
              </a:ext>
            </a:extLst>
          </p:cNvPr>
          <p:cNvSpPr txBox="1"/>
          <p:nvPr/>
        </p:nvSpPr>
        <p:spPr>
          <a:xfrm>
            <a:off x="1403674" y="4828786"/>
            <a:ext cx="1101692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但是</a:t>
            </a:r>
            <a:r>
              <a:rPr lang="zh-CN" altLang="en-US" sz="48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，</a:t>
            </a:r>
            <a:r>
              <a:rPr lang="zh-CN" altLang="en-US" sz="40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只看复盘</a:t>
            </a:r>
            <a:endParaRPr lang="en-US" altLang="zh-CN" sz="4000" dirty="0">
              <a:latin typeface="思源黑体 CN Bold" panose="020B0800000000000000" pitchFamily="34" charset="-122"/>
              <a:ea typeface="思源黑体 CN Bold" panose="020B0800000000000000" pitchFamily="34" charset="-122"/>
              <a:cs typeface="Inter Display" panose="02000803000000020004" pitchFamily="50" charset="0"/>
            </a:endParaRPr>
          </a:p>
          <a:p>
            <a:r>
              <a:rPr lang="zh-CN" altLang="en-US" sz="40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解决不了实际动手时的空白。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7D70AF-9510-0C19-AAB3-BD72B8478A62}"/>
              </a:ext>
            </a:extLst>
          </p:cNvPr>
          <p:cNvSpPr txBox="1"/>
          <p:nvPr/>
        </p:nvSpPr>
        <p:spPr>
          <a:xfrm>
            <a:off x="1403675" y="6999789"/>
            <a:ext cx="724502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所以</a:t>
            </a:r>
            <a:r>
              <a:rPr lang="zh-CN" altLang="en-US" sz="48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，</a:t>
            </a:r>
            <a:r>
              <a:rPr lang="zh-CN" altLang="en-US" sz="40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我做了</a:t>
            </a:r>
            <a:endParaRPr lang="en-US" altLang="zh-CN" sz="4000" dirty="0">
              <a:latin typeface="思源黑体 CN Bold" panose="020B0800000000000000" pitchFamily="34" charset="-122"/>
              <a:ea typeface="思源黑体 CN Bold" panose="020B0800000000000000" pitchFamily="34" charset="-122"/>
              <a:cs typeface="Inter Display" panose="02000803000000020004" pitchFamily="50" charset="0"/>
            </a:endParaRPr>
          </a:p>
          <a:p>
            <a:r>
              <a:rPr lang="zh-CN" altLang="en-US" sz="40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可以直接用的复刻版文件。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D4CBC6-9958-978B-4C9F-CB0420F857C1}"/>
              </a:ext>
            </a:extLst>
          </p:cNvPr>
          <p:cNvSpPr txBox="1"/>
          <p:nvPr/>
        </p:nvSpPr>
        <p:spPr>
          <a:xfrm>
            <a:off x="1403674" y="11546842"/>
            <a:ext cx="62103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86868B"/>
                </a:solidFill>
                <a:effectLst/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排版原样还原成了可编辑的</a:t>
            </a:r>
            <a:r>
              <a:rPr lang="en-US" altLang="zh-CN" sz="2000" b="0" i="0" dirty="0">
                <a:solidFill>
                  <a:srgbClr val="86868B"/>
                </a:solidFill>
                <a:effectLst/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PPT</a:t>
            </a:r>
            <a:r>
              <a:rPr lang="zh-CN" altLang="en-US" sz="2000" b="0" i="0" dirty="0">
                <a:solidFill>
                  <a:srgbClr val="86868B"/>
                </a:solidFill>
                <a:effectLst/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版本。</a:t>
            </a:r>
            <a:br>
              <a:rPr lang="zh-CN" altLang="en-US" sz="2000" dirty="0">
                <a:latin typeface="思源黑体 Medium" panose="020B0600000000000000" pitchFamily="34" charset="-122"/>
                <a:ea typeface="思源黑体 Medium" panose="020B0600000000000000" pitchFamily="34" charset="-122"/>
              </a:rPr>
            </a:br>
            <a:r>
              <a:rPr lang="zh-CN" altLang="en-US" sz="2000" b="0" i="0" dirty="0">
                <a:solidFill>
                  <a:srgbClr val="86868B"/>
                </a:solidFill>
                <a:effectLst/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留白、段距、字距都已锁定，你只需替换文字内容。</a:t>
            </a:r>
            <a:endParaRPr lang="zh-CN" altLang="en-US" sz="2000" dirty="0"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C4F92B-9587-EBBF-2C1A-4884685F1BFA}"/>
              </a:ext>
            </a:extLst>
          </p:cNvPr>
          <p:cNvSpPr txBox="1"/>
          <p:nvPr/>
        </p:nvSpPr>
        <p:spPr>
          <a:xfrm>
            <a:off x="2295560" y="2145485"/>
            <a:ext cx="620864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b="1" i="0" dirty="0">
                <a:effectLst/>
                <a:latin typeface="Inter Display" panose="02000803000000020004" pitchFamily="50" charset="0"/>
                <a:ea typeface="Inter Display" panose="02000803000000020004" pitchFamily="50" charset="0"/>
                <a:cs typeface="Inter Display" panose="02000803000000020004" pitchFamily="50" charset="0"/>
              </a:rPr>
              <a:t>Ready to use.</a:t>
            </a:r>
            <a:endParaRPr lang="zh-CN" altLang="en-US" sz="6600" dirty="0">
              <a:latin typeface="Inter Display" panose="02000803000000020004" pitchFamily="50" charset="0"/>
              <a:cs typeface="Inter Display" panose="020008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21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CEE3F98-3D87-C5BA-0604-D118AF2AB758}"/>
              </a:ext>
            </a:extLst>
          </p:cNvPr>
          <p:cNvGrpSpPr/>
          <p:nvPr/>
        </p:nvGrpSpPr>
        <p:grpSpPr>
          <a:xfrm>
            <a:off x="3282554" y="9693082"/>
            <a:ext cx="4233068" cy="2170275"/>
            <a:chOff x="-4748287" y="5423893"/>
            <a:chExt cx="4233068" cy="217027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C6B050A-BEAC-85BB-5A72-3C27DB7C959D}"/>
                </a:ext>
              </a:extLst>
            </p:cNvPr>
            <p:cNvSpPr txBox="1"/>
            <p:nvPr/>
          </p:nvSpPr>
          <p:spPr>
            <a:xfrm>
              <a:off x="-4748287" y="5423893"/>
              <a:ext cx="423306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latin typeface="Inter Display" panose="02000803000000020004" pitchFamily="50" charset="0"/>
                  <a:ea typeface="Inter Display" panose="02000803000000020004" pitchFamily="50" charset="0"/>
                  <a:cs typeface="Inter Display" panose="02000803000000020004" pitchFamily="50" charset="0"/>
                </a:rPr>
                <a:t>Type it out.</a:t>
              </a:r>
            </a:p>
            <a:p>
              <a:pPr algn="ctr"/>
              <a:r>
                <a:rPr lang="en-US" altLang="zh-CN" sz="3600" dirty="0">
                  <a:latin typeface="Inter Display" panose="02000803000000020004" pitchFamily="50" charset="0"/>
                  <a:ea typeface="Inter Display" panose="02000803000000020004" pitchFamily="50" charset="0"/>
                  <a:cs typeface="Inter Display" panose="02000803000000020004" pitchFamily="50" charset="0"/>
                </a:rPr>
                <a:t>Take it with you.</a:t>
              </a:r>
              <a:endParaRPr lang="zh-CN" altLang="en-US" sz="3600" dirty="0">
                <a:latin typeface="Inter Display" panose="02000803000000020004" pitchFamily="50" charset="0"/>
                <a:ea typeface="思源黑体 CN Bold" panose="020B0800000000000000" pitchFamily="34" charset="-122"/>
                <a:cs typeface="Inter Display" panose="02000803000000020004" pitchFamily="50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F0B6FCF-E98A-F72C-1515-0D749A878151}"/>
                </a:ext>
              </a:extLst>
            </p:cNvPr>
            <p:cNvSpPr txBox="1"/>
            <p:nvPr/>
          </p:nvSpPr>
          <p:spPr>
            <a:xfrm>
              <a:off x="-4597014" y="6670967"/>
              <a:ext cx="4069963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latin typeface="Inter Display Light" panose="02000403000000020004" pitchFamily="50" charset="0"/>
                  <a:ea typeface="Inter Display Light" panose="02000403000000020004" pitchFamily="50" charset="0"/>
                  <a:cs typeface="Inter Display Light" panose="02000403000000020004" pitchFamily="50" charset="0"/>
                </a:rPr>
                <a:t>Thin keyboards provide amazing typing Thin and lightweight, durable protection for your iPad. And they attach to iPad</a:t>
              </a:r>
              <a:r>
                <a:rPr lang="zh-CN" altLang="en-US" sz="1100" dirty="0">
                  <a:latin typeface="Inter Display Light" panose="02000403000000020004" pitchFamily="50" charset="0"/>
                  <a:ea typeface="Inter Display Light" panose="02000403000000020004" pitchFamily="50" charset="0"/>
                  <a:cs typeface="Inter Display Light" panose="02000403000000020004" pitchFamily="50" charset="0"/>
                </a:rPr>
                <a:t>，</a:t>
              </a:r>
              <a:r>
                <a:rPr lang="en-US" altLang="zh-CN" sz="1100" dirty="0">
                  <a:latin typeface="Inter Medium" panose="02000603000000020004" pitchFamily="50" charset="0"/>
                  <a:ea typeface="Inter Medium" panose="02000603000000020004" pitchFamily="50" charset="0"/>
                  <a:cs typeface="Inter Medium" panose="02000603000000020004" pitchFamily="50" charset="0"/>
                </a:rPr>
                <a:t> </a:t>
              </a:r>
              <a:r>
                <a:rPr lang="en-US" altLang="zh-CN" sz="1100" dirty="0">
                  <a:latin typeface="Inter Display Light" panose="02000403000000020004" pitchFamily="50" charset="0"/>
                  <a:ea typeface="Inter Display Light" panose="02000403000000020004" pitchFamily="50" charset="0"/>
                  <a:cs typeface="Inter Display Light" panose="02000403000000020004" pitchFamily="50" charset="0"/>
                </a:rPr>
                <a:t>durable protection for your iPad. And they </a:t>
              </a:r>
              <a:r>
                <a:rPr lang="en-US" altLang="zh-CN" sz="1100" dirty="0" err="1">
                  <a:latin typeface="Inter Display Light" panose="02000403000000020004" pitchFamily="50" charset="0"/>
                  <a:ea typeface="Inter Display Light" panose="02000403000000020004" pitchFamily="50" charset="0"/>
                  <a:cs typeface="Inter Display Light" panose="02000403000000020004" pitchFamily="50" charset="0"/>
                </a:rPr>
                <a:t>att</a:t>
              </a:r>
              <a:endParaRPr lang="en-US" altLang="zh-CN" sz="1100" dirty="0">
                <a:latin typeface="Inter Display Light" panose="02000403000000020004" pitchFamily="50" charset="0"/>
                <a:ea typeface="Inter Display Light" panose="02000403000000020004" pitchFamily="50" charset="0"/>
                <a:cs typeface="Inter Display Light" panose="02000403000000020004" pitchFamily="50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latin typeface="Inter Display Light" panose="02000403000000020004" pitchFamily="50" charset="0"/>
                  <a:ea typeface="Inter Display Light" panose="02000403000000020004" pitchFamily="50" charset="0"/>
                  <a:cs typeface="Inter Display Light" panose="02000403000000020004" pitchFamily="50" charset="0"/>
                </a:rPr>
                <a:t>durable protection for your iPad. </a:t>
              </a:r>
              <a:endParaRPr lang="zh-CN" altLang="en-US" sz="1100" dirty="0">
                <a:latin typeface="Inter Display Light" panose="02000403000000020004" pitchFamily="50" charset="0"/>
                <a:cs typeface="Inter Display Light" panose="02000403000000020004" pitchFamily="50" charset="0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EFE04F1-CCAF-2B4B-F5DF-328481180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" y="3083207"/>
            <a:ext cx="10799763" cy="5568628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2692748-0DEC-9D65-D132-45A986730571}"/>
              </a:ext>
            </a:extLst>
          </p:cNvPr>
          <p:cNvCxnSpPr>
            <a:cxnSpLocks/>
          </p:cNvCxnSpPr>
          <p:nvPr/>
        </p:nvCxnSpPr>
        <p:spPr>
          <a:xfrm>
            <a:off x="6578600" y="4892731"/>
            <a:ext cx="21209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84FC1BA-A873-0CBC-EF8E-2B0C0693A263}"/>
              </a:ext>
            </a:extLst>
          </p:cNvPr>
          <p:cNvSpPr txBox="1"/>
          <p:nvPr/>
        </p:nvSpPr>
        <p:spPr>
          <a:xfrm>
            <a:off x="7738711" y="4322140"/>
            <a:ext cx="1655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图片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9F1EB96-8E26-EB90-2FA0-919415A6E3C6}"/>
              </a:ext>
            </a:extLst>
          </p:cNvPr>
          <p:cNvCxnSpPr>
            <a:cxnSpLocks/>
          </p:cNvCxnSpPr>
          <p:nvPr/>
        </p:nvCxnSpPr>
        <p:spPr>
          <a:xfrm>
            <a:off x="6578600" y="10552386"/>
            <a:ext cx="252689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439EAFF-5B5E-9607-7014-9D46E0776D76}"/>
              </a:ext>
            </a:extLst>
          </p:cNvPr>
          <p:cNvSpPr txBox="1"/>
          <p:nvPr/>
        </p:nvSpPr>
        <p:spPr>
          <a:xfrm>
            <a:off x="7738711" y="9885055"/>
            <a:ext cx="1655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Inter Display" panose="02000803000000020004" pitchFamily="50" charset="0"/>
              </a:rPr>
              <a:t>可编辑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38423F5-BA3D-07F0-7800-5213B56344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810" y="14876327"/>
            <a:ext cx="6492690" cy="283592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3A38A90-F468-5C2D-9435-D0DC6776382F}"/>
              </a:ext>
            </a:extLst>
          </p:cNvPr>
          <p:cNvSpPr txBox="1"/>
          <p:nvPr/>
        </p:nvSpPr>
        <p:spPr>
          <a:xfrm>
            <a:off x="6017126" y="14400213"/>
            <a:ext cx="4219184" cy="369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en-US" altLang="zh-CN" sz="1600" b="1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Thin keyboards </a:t>
            </a:r>
            <a:r>
              <a:rPr lang="en-US" altLang="zh-CN" sz="1400" b="1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provide an amazing                 </a:t>
            </a:r>
            <a:r>
              <a:rPr lang="en-US" altLang="zh-CN" sz="1200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typing </a:t>
            </a:r>
            <a:r>
              <a:rPr lang="en-US" altLang="zh-CN" sz="1400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Thin and lightweight, durable protection for your iPad. And they attach to iPad </a:t>
            </a:r>
          </a:p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en-US" altLang="zh-CN" sz="1600" b="1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iPad keyboards                                         </a:t>
            </a:r>
            <a:r>
              <a:rPr lang="en-US" altLang="zh-CN" sz="1400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provide an amazing typing experience and lightweight, durable protection for your iPad. And they attach to iPad magnetically </a:t>
            </a:r>
          </a:p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en-US" altLang="zh-CN" sz="1600" b="1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iPad keyboards provide </a:t>
            </a:r>
            <a:r>
              <a:rPr lang="en-US" altLang="zh-CN" sz="1400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               experience and lightweight, durable protection for your iPad. And they attach to magnetic</a:t>
            </a:r>
            <a:endParaRPr lang="zh-CN" altLang="en-US" sz="1100" dirty="0">
              <a:latin typeface="Inter Display Light" panose="02000403000000020004" pitchFamily="50" charset="0"/>
              <a:cs typeface="Inter Display Light" panose="020004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07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2A018AC-E04B-70B8-FE28-A130A258125D}"/>
              </a:ext>
            </a:extLst>
          </p:cNvPr>
          <p:cNvGrpSpPr/>
          <p:nvPr/>
        </p:nvGrpSpPr>
        <p:grpSpPr>
          <a:xfrm>
            <a:off x="-99916" y="5898487"/>
            <a:ext cx="11266226" cy="3490516"/>
            <a:chOff x="-325202" y="5382032"/>
            <a:chExt cx="11266226" cy="3490516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48FEBA9-2765-B2AB-4E0D-F45D7ACEEC2D}"/>
                </a:ext>
              </a:extLst>
            </p:cNvPr>
            <p:cNvSpPr txBox="1"/>
            <p:nvPr/>
          </p:nvSpPr>
          <p:spPr>
            <a:xfrm>
              <a:off x="-325202" y="5382032"/>
              <a:ext cx="11266226" cy="22006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设计</a:t>
              </a:r>
              <a:endParaRPr kumimoji="0" lang="en-US" altLang="zh-CN" sz="6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600" dirty="0"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重装也轻便</a:t>
              </a:r>
              <a:endParaRPr kumimoji="0" lang="en-US" altLang="zh-CN" sz="6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6801EC4-305D-A98D-2446-142D49CDADB0}"/>
                </a:ext>
              </a:extLst>
            </p:cNvPr>
            <p:cNvSpPr txBox="1"/>
            <p:nvPr/>
          </p:nvSpPr>
          <p:spPr>
            <a:xfrm>
              <a:off x="1670727" y="7856885"/>
              <a:ext cx="7456721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iPad Pro 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设计超轻超薄，性能却强悍磅礴，再加上从早用到晚的电池续航⁴，力挺你的工作效率再上新高。现还支持快速充电，只需</a:t>
              </a:r>
              <a:r>
                <a:rPr lang="zh-CN" altLang="en-US" sz="20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约 </a:t>
              </a:r>
              <a:r>
                <a:rPr lang="en-US" altLang="zh-CN" sz="20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30 </a:t>
              </a:r>
              <a:r>
                <a:rPr lang="zh-CN" altLang="en-US" sz="20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分钟即可充至最多 </a:t>
              </a:r>
              <a:r>
                <a:rPr lang="en-US" altLang="zh-CN" sz="2000" b="1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50% </a:t>
              </a:r>
              <a:r>
                <a:rPr lang="zh-CN" altLang="en-US" sz="2000" b="1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电量</a:t>
              </a:r>
              <a:r>
                <a:rPr lang="zh-CN" altLang="en-US" sz="2000" b="1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⁹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。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7DDFE9F-A16C-0A54-2905-2B4BACCDD11A}"/>
              </a:ext>
            </a:extLst>
          </p:cNvPr>
          <p:cNvGrpSpPr/>
          <p:nvPr/>
        </p:nvGrpSpPr>
        <p:grpSpPr>
          <a:xfrm>
            <a:off x="115011" y="9951982"/>
            <a:ext cx="10836371" cy="3027075"/>
            <a:chOff x="-6609559" y="11064804"/>
            <a:chExt cx="10836371" cy="302707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F4B4902-7F8A-021E-55C8-45C2152CF7C7}"/>
                </a:ext>
              </a:extLst>
            </p:cNvPr>
            <p:cNvSpPr txBox="1"/>
            <p:nvPr/>
          </p:nvSpPr>
          <p:spPr>
            <a:xfrm>
              <a:off x="-6609559" y="12922648"/>
              <a:ext cx="10836371" cy="11692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iPhone 17e 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亮相，让你能轻松入手 </a:t>
              </a:r>
              <a:r>
                <a:rPr lang="en-US" altLang="zh-CN" sz="20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iPhone 17 </a:t>
              </a:r>
              <a:r>
                <a:rPr lang="zh-CN" altLang="en-US" sz="20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同款的种种精彩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，如抗刮划能力更高的超瓷晶面板 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²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、最新一代芯片 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A19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、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4800 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万像素融合式摄像头、快捷的 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MagSafe 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无线充电和 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USB‑C 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连接，存储容量也同样 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256GB 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起步。这款 </a:t>
              </a: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iPhone </a:t>
              </a:r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本领多的是，超值入手超省事。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B213CA5-2567-2C3E-E831-A6100CAD65F5}"/>
                </a:ext>
              </a:extLst>
            </p:cNvPr>
            <p:cNvSpPr txBox="1"/>
            <p:nvPr/>
          </p:nvSpPr>
          <p:spPr>
            <a:xfrm>
              <a:off x="-5290927" y="11705752"/>
              <a:ext cx="8719930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600" dirty="0">
                  <a:gradFill>
                    <a:gsLst>
                      <a:gs pos="0">
                        <a:srgbClr val="9356B6"/>
                      </a:gs>
                      <a:gs pos="100000">
                        <a:srgbClr val="B43B8E"/>
                      </a:gs>
                    </a:gsLst>
                    <a:lin ang="5400000" scaled="1"/>
                  </a:gra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好物好种草</a:t>
              </a:r>
              <a:r>
                <a:rPr lang="zh-CN" altLang="en-US" sz="6200" dirty="0">
                  <a:gradFill>
                    <a:gsLst>
                      <a:gs pos="0">
                        <a:srgbClr val="9356B6"/>
                      </a:gs>
                      <a:gs pos="100000">
                        <a:srgbClr val="B43B8E"/>
                      </a:gs>
                    </a:gsLst>
                    <a:lin ang="5400000" scaled="1"/>
                  </a:gra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。</a:t>
              </a:r>
              <a:endParaRPr kumimoji="0" lang="en-US" altLang="zh-CN" sz="6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9356B6"/>
                    </a:gs>
                    <a:gs pos="100000">
                      <a:srgbClr val="B43B8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EA393F7-13FD-5D59-48D0-C784CDE60FFA}"/>
                </a:ext>
              </a:extLst>
            </p:cNvPr>
            <p:cNvSpPr txBox="1"/>
            <p:nvPr/>
          </p:nvSpPr>
          <p:spPr>
            <a:xfrm>
              <a:off x="-2674955" y="11064804"/>
              <a:ext cx="26932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超值呈献</a:t>
              </a:r>
              <a:endParaRPr lang="zh-CN" altLang="en-US" dirty="0"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8A2FCA-384C-BD4E-C06F-E667108DD038}"/>
              </a:ext>
            </a:extLst>
          </p:cNvPr>
          <p:cNvGrpSpPr/>
          <p:nvPr/>
        </p:nvGrpSpPr>
        <p:grpSpPr>
          <a:xfrm>
            <a:off x="1" y="1275498"/>
            <a:ext cx="10799762" cy="4258296"/>
            <a:chOff x="36607" y="5490647"/>
            <a:chExt cx="10763155" cy="4258296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1AF49A6-AC1F-41A1-8604-48ADB451CEF4}"/>
                </a:ext>
              </a:extLst>
            </p:cNvPr>
            <p:cNvSpPr/>
            <p:nvPr/>
          </p:nvSpPr>
          <p:spPr>
            <a:xfrm>
              <a:off x="36607" y="5490647"/>
              <a:ext cx="10763155" cy="425829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753BE73-F325-2812-AED1-9BACA813596C}"/>
                </a:ext>
              </a:extLst>
            </p:cNvPr>
            <p:cNvGrpSpPr/>
            <p:nvPr/>
          </p:nvGrpSpPr>
          <p:grpSpPr>
            <a:xfrm>
              <a:off x="1128816" y="5958210"/>
              <a:ext cx="8769350" cy="2745226"/>
              <a:chOff x="1128816" y="5958210"/>
              <a:chExt cx="8769350" cy="2745226"/>
            </a:xfrm>
          </p:grpSpPr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51285E7-C3AA-7F1A-C6EE-3798DD4C3DF9}"/>
                  </a:ext>
                </a:extLst>
              </p:cNvPr>
              <p:cNvSpPr txBox="1"/>
              <p:nvPr/>
            </p:nvSpPr>
            <p:spPr>
              <a:xfrm>
                <a:off x="1128816" y="6344654"/>
                <a:ext cx="8769350" cy="152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+mn-cs"/>
                  </a:rPr>
                  <a:t>一体成型机身，</a:t>
                </a:r>
                <a:endPara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440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锻造一身强悍。</a:t>
                </a:r>
                <a:endParaRPr kumimoji="0" lang="en-US" altLang="zh-CN" sz="4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C985999-8AF3-7CF0-646B-D1F15D4B0881}"/>
                  </a:ext>
                </a:extLst>
              </p:cNvPr>
              <p:cNvSpPr txBox="1"/>
              <p:nvPr/>
            </p:nvSpPr>
            <p:spPr>
              <a:xfrm>
                <a:off x="4359007" y="5958210"/>
                <a:ext cx="172402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FF7D1C"/>
                    </a:solidFill>
                    <a:latin typeface="思源黑体 Medium" panose="020B0600000000000000" pitchFamily="34" charset="-122"/>
                    <a:ea typeface="思源黑体 Medium" panose="020B0600000000000000" pitchFamily="34" charset="-122"/>
                  </a:rPr>
                  <a:t>设计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0890162-5ACA-3EDA-F4A9-F6ACB8888902}"/>
                  </a:ext>
                </a:extLst>
              </p:cNvPr>
              <p:cNvSpPr txBox="1"/>
              <p:nvPr/>
            </p:nvSpPr>
            <p:spPr>
              <a:xfrm>
                <a:off x="2716269" y="7964964"/>
                <a:ext cx="5009499" cy="738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  <a:latin typeface="思源黑体 Medium" panose="020B0600000000000000" pitchFamily="34" charset="-122"/>
                    <a:ea typeface="思源黑体 Medium" panose="020B0600000000000000" pitchFamily="34" charset="-122"/>
                  </a:rPr>
                  <a:t>iPhone 17 Pro </a:t>
                </a: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  <a:latin typeface="思源黑体 Medium" panose="020B0600000000000000" pitchFamily="34" charset="-122"/>
                    <a:ea typeface="思源黑体 Medium" panose="020B0600000000000000" pitchFamily="34" charset="-122"/>
                  </a:rPr>
                  <a:t>和 </a:t>
                </a:r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  <a:latin typeface="思源黑体 Medium" panose="020B0600000000000000" pitchFamily="34" charset="-122"/>
                    <a:ea typeface="思源黑体 Medium" panose="020B0600000000000000" pitchFamily="34" charset="-122"/>
                  </a:rPr>
                  <a:t>iPhone 17 Pro Max </a:t>
                </a: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  <a:latin typeface="思源黑体 Medium" panose="020B0600000000000000" pitchFamily="34" charset="-122"/>
                    <a:ea typeface="思源黑体 Medium" panose="020B0600000000000000" pitchFamily="34" charset="-122"/>
                  </a:rPr>
                  <a:t>强悍登场，由内而外精心设计，再创 </a:t>
                </a:r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  <a:latin typeface="思源黑体 Medium" panose="020B0600000000000000" pitchFamily="34" charset="-122"/>
                    <a:ea typeface="思源黑体 Medium" panose="020B0600000000000000" pitchFamily="34" charset="-122"/>
                  </a:rPr>
                  <a:t>iPhone </a:t>
                </a: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  <a:latin typeface="思源黑体 Medium" panose="020B0600000000000000" pitchFamily="34" charset="-122"/>
                    <a:ea typeface="思源黑体 Medium" panose="020B0600000000000000" pitchFamily="34" charset="-122"/>
                  </a:rPr>
                  <a:t>实力巅峰。全新设计以热锻铝金属一体成型机身为核心，将性能、电池容量和耐用性全面拉满。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203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89DB09A-83A1-46B6-8236-E7A482FD5989}"/>
              </a:ext>
            </a:extLst>
          </p:cNvPr>
          <p:cNvGrpSpPr/>
          <p:nvPr/>
        </p:nvGrpSpPr>
        <p:grpSpPr>
          <a:xfrm>
            <a:off x="2180927" y="1250053"/>
            <a:ext cx="8799442" cy="3258670"/>
            <a:chOff x="2296028" y="2284118"/>
            <a:chExt cx="8799442" cy="3258670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0058AFC-D9F8-2D5A-0181-B20ED9F9AC42}"/>
                </a:ext>
              </a:extLst>
            </p:cNvPr>
            <p:cNvSpPr txBox="1"/>
            <p:nvPr/>
          </p:nvSpPr>
          <p:spPr>
            <a:xfrm>
              <a:off x="2296028" y="2284118"/>
              <a:ext cx="8799442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lang="zh-CN" altLang="en-US" sz="6000" dirty="0">
                  <a:solidFill>
                    <a:prstClr val="black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Inter Medium" panose="02000603000000020004" pitchFamily="50" charset="0"/>
                </a:rPr>
                <a:t>论做事，</a:t>
              </a:r>
              <a:endParaRPr lang="en-US" altLang="zh-CN" sz="6000" dirty="0">
                <a:solidFill>
                  <a:prstClr val="black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Inter Medium" panose="02000603000000020004" pitchFamily="50" charset="0"/>
              </a:endParaRPr>
            </a:p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Inter Medium" panose="02000603000000020004" pitchFamily="50" charset="0"/>
                </a:rPr>
                <a:t>身手利落。</a:t>
              </a:r>
              <a:endPara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Inter Medium" panose="02000603000000020004" pitchFamily="50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D5C240E-BB99-5873-849D-9A4C29927485}"/>
                </a:ext>
              </a:extLst>
            </p:cNvPr>
            <p:cNvSpPr txBox="1"/>
            <p:nvPr/>
          </p:nvSpPr>
          <p:spPr>
            <a:xfrm>
              <a:off x="2331119" y="4465570"/>
              <a:ext cx="6411114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得益于飞快的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A16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芯片，你可以更轻松利落地用这一台设备打理各种事。随手</a:t>
              </a:r>
              <a:r>
                <a:rPr lang="zh-CN" altLang="en-US" sz="16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记个笔记、发个消息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，在多个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app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之间</a:t>
              </a:r>
              <a:r>
                <a:rPr lang="zh-CN" altLang="en-US" sz="16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流畅地进行多任务处理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，都没问题。而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iPad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生来就是生产力能手，从做提案的饼图到做松饼的食谱，全不在话下。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6172015-E645-8C34-71F9-3BD422035A0C}"/>
              </a:ext>
            </a:extLst>
          </p:cNvPr>
          <p:cNvGrpSpPr/>
          <p:nvPr/>
        </p:nvGrpSpPr>
        <p:grpSpPr>
          <a:xfrm>
            <a:off x="-1" y="4949965"/>
            <a:ext cx="10980370" cy="4714231"/>
            <a:chOff x="-1" y="6161646"/>
            <a:chExt cx="10980370" cy="471423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87BFB3F-4A85-8EA2-ABD0-133AFD7E3FC7}"/>
                </a:ext>
              </a:extLst>
            </p:cNvPr>
            <p:cNvSpPr/>
            <p:nvPr/>
          </p:nvSpPr>
          <p:spPr>
            <a:xfrm>
              <a:off x="-1" y="6161646"/>
              <a:ext cx="10799764" cy="471423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2218294-543E-8D7B-B770-9651FB975F3B}"/>
                </a:ext>
              </a:extLst>
            </p:cNvPr>
            <p:cNvSpPr txBox="1"/>
            <p:nvPr/>
          </p:nvSpPr>
          <p:spPr>
            <a:xfrm>
              <a:off x="2180927" y="7347490"/>
              <a:ext cx="8799442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Inter Medium" panose="02000603000000020004" pitchFamily="50" charset="0"/>
                </a:rPr>
                <a:t>让每一声，</a:t>
              </a:r>
              <a:endPara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Inter Medium" panose="02000603000000020004" pitchFamily="50" charset="0"/>
              </a:endParaRPr>
            </a:p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lang="zh-CN" altLang="en-US" sz="540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Inter Medium" panose="02000603000000020004" pitchFamily="50" charset="0"/>
                </a:rPr>
                <a:t>都高调起飞</a:t>
              </a:r>
              <a:r>
                <a:rPr kumimoji="0" lang="zh-CN" alt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Inter Medium" panose="02000603000000020004" pitchFamily="50" charset="0"/>
                </a:rPr>
                <a:t>。</a:t>
              </a:r>
              <a:endPara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Inter Medium" panose="02000603000000020004" pitchFamily="50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3300847-02BA-3460-9F40-5C00216D3F09}"/>
                </a:ext>
              </a:extLst>
            </p:cNvPr>
            <p:cNvSpPr txBox="1"/>
            <p:nvPr/>
          </p:nvSpPr>
          <p:spPr>
            <a:xfrm>
              <a:off x="2180927" y="9258745"/>
              <a:ext cx="7522631" cy="9538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HomePod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是一个让听觉澎湃震撼的扬声器。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Apple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精心设计的音频技术结合先进软件，让你在房间每个角落都能听到高保真的音质。根据播放内容或摆放的位置，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HomePod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会智能调音，给你沉浸式的环绕体验，令声声入耳都如天籁般动听。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6D4CC1B-A0A3-4129-7AC3-1589A1033A2C}"/>
                </a:ext>
              </a:extLst>
            </p:cNvPr>
            <p:cNvSpPr txBox="1"/>
            <p:nvPr/>
          </p:nvSpPr>
          <p:spPr>
            <a:xfrm>
              <a:off x="2163993" y="6613154"/>
              <a:ext cx="18689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75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高保真音质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174B260-6059-7916-540C-AB458DF849C9}"/>
              </a:ext>
            </a:extLst>
          </p:cNvPr>
          <p:cNvGrpSpPr/>
          <p:nvPr/>
        </p:nvGrpSpPr>
        <p:grpSpPr>
          <a:xfrm>
            <a:off x="181632" y="10029200"/>
            <a:ext cx="10069421" cy="3587047"/>
            <a:chOff x="181632" y="10029200"/>
            <a:chExt cx="10069421" cy="3587047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88CB5BD-3472-D460-FF7C-B6BB47423FB4}"/>
                </a:ext>
              </a:extLst>
            </p:cNvPr>
            <p:cNvSpPr txBox="1"/>
            <p:nvPr/>
          </p:nvSpPr>
          <p:spPr>
            <a:xfrm>
              <a:off x="181632" y="10579087"/>
              <a:ext cx="8445500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36225">
                        <a:srgbClr val="8980C7"/>
                      </a:gs>
                      <a:gs pos="69000">
                        <a:srgbClr val="6B8DAF"/>
                      </a:gs>
                      <a:gs pos="0">
                        <a:srgbClr val="A778C8"/>
                      </a:gs>
                      <a:gs pos="100000">
                        <a:srgbClr val="659958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</a:rPr>
                <a:t>拉高好感度，</a:t>
              </a:r>
              <a:endParaRPr kumimoji="0" lang="en-US" altLang="zh-CN" sz="54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36225">
                      <a:srgbClr val="8980C7"/>
                    </a:gs>
                    <a:gs pos="69000">
                      <a:srgbClr val="6B8DAF"/>
                    </a:gs>
                    <a:gs pos="0">
                      <a:srgbClr val="A778C8"/>
                    </a:gs>
                    <a:gs pos="100000">
                      <a:srgbClr val="659958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lang="zh-CN" altLang="en-US" sz="5400" dirty="0">
                  <a:gradFill flip="none" rotWithShape="1">
                    <a:gsLst>
                      <a:gs pos="36225">
                        <a:srgbClr val="8980C7"/>
                      </a:gs>
                      <a:gs pos="69000">
                        <a:srgbClr val="6B8DAF"/>
                      </a:gs>
                      <a:gs pos="0">
                        <a:srgbClr val="A778C8"/>
                      </a:gs>
                      <a:gs pos="100000">
                        <a:srgbClr val="659958"/>
                      </a:gs>
                    </a:gsLst>
                    <a:lin ang="0" scaled="1"/>
                    <a:tileRect/>
                  </a:gra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再添耐用性。</a:t>
              </a:r>
              <a:endParaRPr kumimoji="0" lang="en-US" altLang="zh-CN" sz="54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36225">
                      <a:srgbClr val="8980C7"/>
                    </a:gs>
                    <a:gs pos="69000">
                      <a:srgbClr val="6B8DAF"/>
                    </a:gs>
                    <a:gs pos="0">
                      <a:srgbClr val="A778C8"/>
                    </a:gs>
                    <a:gs pos="100000">
                      <a:srgbClr val="659958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CB98D99-CFA0-EF20-6700-BB71ACCA1FE4}"/>
                </a:ext>
              </a:extLst>
            </p:cNvPr>
            <p:cNvSpPr txBox="1"/>
            <p:nvPr/>
          </p:nvSpPr>
          <p:spPr>
            <a:xfrm>
              <a:off x="2272278" y="10029200"/>
              <a:ext cx="18732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设计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4880FE6-5B69-D767-51AB-2BF86AB4FC1F}"/>
                </a:ext>
              </a:extLst>
            </p:cNvPr>
            <p:cNvSpPr txBox="1"/>
            <p:nvPr/>
          </p:nvSpPr>
          <p:spPr>
            <a:xfrm>
              <a:off x="2272278" y="12511586"/>
              <a:ext cx="7978775" cy="1104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来见见全新 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iPhone 17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。方方面面都精心设计，机身边缘顺滑称手，屏幕边框更窄更纤细，材质也都超耐用，正面配上了超瓷晶面板 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2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，</a:t>
              </a:r>
              <a:r>
                <a:rPr lang="zh-CN" altLang="en-US" sz="14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好看，还能一直这么好看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6.3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英寸超视网膜 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XDR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显示屏，你想看什么都大饱眼福，想做什么可尽情施展 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³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。</a:t>
              </a:r>
              <a:r>
                <a:rPr lang="en-US" altLang="zh-CN" sz="1400" dirty="0" err="1">
                  <a:latin typeface="Inter Display" panose="02000803000000020004" pitchFamily="50" charset="0"/>
                  <a:ea typeface="Inter Display" panose="02000803000000020004" pitchFamily="50" charset="0"/>
                  <a:cs typeface="Inter Display" panose="02000803000000020004" pitchFamily="50" charset="0"/>
                </a:rPr>
                <a:t>ProMotion</a:t>
              </a:r>
              <a:r>
                <a:rPr lang="en-US" altLang="zh-CN" sz="1400" dirty="0">
                  <a:latin typeface="Inter Display" panose="02000803000000020004" pitchFamily="50" charset="0"/>
                  <a:ea typeface="Inter Display" panose="02000803000000020004" pitchFamily="50" charset="0"/>
                  <a:cs typeface="Inter Display" panose="02000803000000020004" pitchFamily="50" charset="0"/>
                </a:rPr>
                <a:t> </a:t>
              </a:r>
              <a:r>
                <a:rPr lang="en-US" altLang="zh-CN" sz="14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 </a:t>
              </a:r>
              <a:r>
                <a:rPr lang="zh-CN" altLang="en-US" sz="14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技术也加入，自适应刷新率最高达 </a:t>
              </a:r>
              <a:r>
                <a:rPr lang="en-US" altLang="zh-CN" sz="14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120Hz</a:t>
              </a:r>
              <a:r>
                <a:rPr lang="zh-CN" altLang="en-US" sz="1400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，刷手机超丝滑，玩游戏更畅快。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这种感受，一上手就懂。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2977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3260</TotalTime>
  <Words>622</Words>
  <Application>Microsoft Office PowerPoint</Application>
  <PresentationFormat>自定义</PresentationFormat>
  <Paragraphs>36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思源黑体 CN Bold</vt:lpstr>
      <vt:lpstr>Calibri Light</vt:lpstr>
      <vt:lpstr>思源黑体 Medium</vt:lpstr>
      <vt:lpstr>Calibri</vt:lpstr>
      <vt:lpstr>Inter Medium</vt:lpstr>
      <vt:lpstr>Arial</vt:lpstr>
      <vt:lpstr>Inter Display Light</vt:lpstr>
      <vt:lpstr>等线</vt:lpstr>
      <vt:lpstr>Inter Display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孔宇翔</dc:creator>
  <cp:lastModifiedBy>宇翔 孔</cp:lastModifiedBy>
  <cp:revision>55</cp:revision>
  <dcterms:created xsi:type="dcterms:W3CDTF">2023-08-09T12:44:00Z</dcterms:created>
  <dcterms:modified xsi:type="dcterms:W3CDTF">2026-08-17T12:44:13Z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